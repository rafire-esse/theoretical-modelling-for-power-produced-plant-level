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54" r:id="rId5"/>
    <p:sldId id="353" r:id="rId6"/>
    <p:sldId id="359" r:id="rId7"/>
    <p:sldId id="360" r:id="rId8"/>
    <p:sldId id="361" r:id="rId9"/>
    <p:sldId id="362" r:id="rId10"/>
    <p:sldId id="363" r:id="rId11"/>
    <p:sldId id="366" r:id="rId12"/>
    <p:sldId id="364" r:id="rId13"/>
    <p:sldId id="365" r:id="rId14"/>
    <p:sldId id="35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68" autoAdjust="0"/>
    <p:restoredTop sz="95928" autoAdjust="0"/>
  </p:normalViewPr>
  <p:slideViewPr>
    <p:cSldViewPr snapToGrid="0">
      <p:cViewPr varScale="1">
        <p:scale>
          <a:sx n="111" d="100"/>
          <a:sy n="111" d="100"/>
        </p:scale>
        <p:origin x="1014" y="96"/>
      </p:cViewPr>
      <p:guideLst>
        <p:guide orient="horz" pos="175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109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440F78-2C9E-4C7F-818C-B40BB19D3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3FB98-80B9-4155-809A-82659D34A0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18EB1-FF96-47AA-9A30-F1BFF2FFD1F7}" type="datetimeFigureOut">
              <a:rPr lang="en-US" smtClean="0"/>
              <a:t>6/9/2025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EF847-3492-4888-9C23-150423853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48C54-2332-4748-9C65-6A27E550C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75FB2-D12E-4669-8522-D3E2C7E6D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91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A361-7934-4769-9B16-8A939698742C}" type="datetimeFigureOut">
              <a:rPr lang="en-US" smtClean="0"/>
              <a:t>6/9/2025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8E0B9-48E4-499D-93B2-B07D00395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04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CAE98-E1D3-D0B7-0317-650AE1E1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412C9-79B7-0F52-EFBC-09FE6CFCE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F275B0-7EF0-E69B-0A56-92F146C3C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441C8-204B-C90D-72D1-CAD81D040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838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8D9F8-B6EF-9223-5F27-9883170EB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AE410-BCE4-9994-8CDA-E70793047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64B80-95E7-7FB7-7825-A6BBC3F67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3ED7B-D4C2-5D02-A0EB-0DEB763926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10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F98F0-CDCA-7B54-E288-3635FCFF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751C3-6072-9D2C-32B4-4E58C4339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DD822-56E8-6CFB-AF05-B126F3E3C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FAB60-7E45-6D95-C5CC-668578FCB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535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A39D92-9919-A80E-44FF-6B912E85073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8788" y="457200"/>
            <a:ext cx="11274425" cy="5943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2FF34D-C8F8-1796-647D-D17056A2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955" y="612475"/>
            <a:ext cx="4701904" cy="3079029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76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229E2-8757-94D8-A1B6-702189DC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249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77143C8-CDFF-B937-C00C-5E7B50939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83920"/>
            <a:ext cx="4114800" cy="50596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2637A1-1BB4-AF51-24C3-6FE78DD45D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438400"/>
            <a:ext cx="4799012" cy="35052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57200" indent="0">
              <a:lnSpc>
                <a:spcPct val="125000"/>
              </a:lnSpc>
              <a:buNone/>
              <a:defRPr sz="1600"/>
            </a:lvl2pPr>
            <a:lvl3pPr marL="914400" indent="0">
              <a:lnSpc>
                <a:spcPct val="125000"/>
              </a:lnSpc>
              <a:buNone/>
              <a:defRPr sz="1400"/>
            </a:lvl3pPr>
            <a:lvl4pPr marL="1371600" indent="0">
              <a:lnSpc>
                <a:spcPct val="125000"/>
              </a:lnSpc>
              <a:buNone/>
              <a:defRPr sz="1200"/>
            </a:lvl4pPr>
            <a:lvl5pPr marL="1828800" indent="0">
              <a:lnSpc>
                <a:spcPct val="125000"/>
              </a:lnSpc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56F59DF2-AB3C-B7B3-826A-636B8CC5AB3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8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37016-0B2B-9F81-7A77-63223C486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34E572-08FE-0439-A460-8DFE1183A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8742" y="914399"/>
            <a:ext cx="4798858" cy="502919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EB46EC-087C-B8FF-2363-B99FAE98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5713413" cy="50292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2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D872928-B479-F7C5-9C83-C448FBA36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20445"/>
            <a:ext cx="4114800" cy="50292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E3771A-E1EB-0CBE-828C-2C5E1F2AE6C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5227" y="1020445"/>
            <a:ext cx="4802735" cy="5029200"/>
          </a:xfrm>
        </p:spPr>
        <p:txBody>
          <a:bodyPr anchor="ctr">
            <a:normAutofit/>
          </a:bodyPr>
          <a:lstStyle>
            <a:lvl1pPr marL="22860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lvl1pPr>
            <a:lvl2pPr marL="41148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lvl2pPr>
            <a:lvl3pPr marL="59436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/>
            </a:lvl3pPr>
            <a:lvl4pPr marL="77724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4pPr>
            <a:lvl5pPr marL="96012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1635D-96F0-769B-4ECB-70502770A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4F877767-0342-A344-0462-A0D877FF68F8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5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21F215D-0D9E-64B3-1F66-E90B87932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0741"/>
            <a:ext cx="4802372" cy="278891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86A4459-11C2-44C6-0173-C666D5AADC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82523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4EF14-0982-D931-9DD6-ECFE61D5B0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7D7E927E-4F73-5579-4F1D-E13899DEEA0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0" y="2153285"/>
            <a:ext cx="4953001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9360" y="2153285"/>
            <a:ext cx="51358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5D7E8F5-692D-24DD-0F8C-9563BA74AAF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3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1" y="2153285"/>
            <a:ext cx="3261359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80560" y="2153285"/>
            <a:ext cx="69646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C0F1533-3810-C210-9B67-D2F4A1846C23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9C70371-D147-2B29-EAEB-B10A799D0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169" y="614812"/>
            <a:ext cx="10359659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AE226-98C6-70F4-8DED-59E8FE3040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67" y="2177378"/>
            <a:ext cx="5713413" cy="4669987"/>
          </a:xfrm>
          <a:custGeom>
            <a:avLst/>
            <a:gdLst>
              <a:gd name="connsiteX0" fmla="*/ 400038 w 5713413"/>
              <a:gd name="connsiteY0" fmla="*/ 0 h 4669987"/>
              <a:gd name="connsiteX1" fmla="*/ 5713413 w 5713413"/>
              <a:gd name="connsiteY1" fmla="*/ 0 h 4669987"/>
              <a:gd name="connsiteX2" fmla="*/ 5713413 w 5713413"/>
              <a:gd name="connsiteY2" fmla="*/ 4315224 h 4669987"/>
              <a:gd name="connsiteX3" fmla="*/ 400038 w 5713413"/>
              <a:gd name="connsiteY3" fmla="*/ 4315224 h 4669987"/>
              <a:gd name="connsiteX4" fmla="*/ 0 w 5713413"/>
              <a:gd name="connsiteY4" fmla="*/ 0 h 4669987"/>
              <a:gd name="connsiteX5" fmla="*/ 386684 w 5713413"/>
              <a:gd name="connsiteY5" fmla="*/ 0 h 4669987"/>
              <a:gd name="connsiteX6" fmla="*/ 386684 w 5713413"/>
              <a:gd name="connsiteY6" fmla="*/ 4328578 h 4669987"/>
              <a:gd name="connsiteX7" fmla="*/ 5713413 w 5713413"/>
              <a:gd name="connsiteY7" fmla="*/ 4328578 h 4669987"/>
              <a:gd name="connsiteX8" fmla="*/ 5713413 w 5713413"/>
              <a:gd name="connsiteY8" fmla="*/ 4669987 h 4669987"/>
              <a:gd name="connsiteX9" fmla="*/ 0 w 5713413"/>
              <a:gd name="connsiteY9" fmla="*/ 4669987 h 466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3413" h="4669987">
                <a:moveTo>
                  <a:pt x="400038" y="0"/>
                </a:moveTo>
                <a:lnTo>
                  <a:pt x="5713413" y="0"/>
                </a:lnTo>
                <a:lnTo>
                  <a:pt x="5713413" y="4315224"/>
                </a:lnTo>
                <a:lnTo>
                  <a:pt x="400038" y="4315224"/>
                </a:lnTo>
                <a:close/>
                <a:moveTo>
                  <a:pt x="0" y="0"/>
                </a:moveTo>
                <a:lnTo>
                  <a:pt x="386684" y="0"/>
                </a:lnTo>
                <a:lnTo>
                  <a:pt x="386684" y="4328578"/>
                </a:lnTo>
                <a:lnTo>
                  <a:pt x="5713413" y="4328578"/>
                </a:lnTo>
                <a:lnTo>
                  <a:pt x="5713413" y="4669987"/>
                </a:lnTo>
                <a:lnTo>
                  <a:pt x="0" y="46699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EEA9034-22FD-3C2F-6A27-6363896980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153285"/>
            <a:ext cx="4799012" cy="3790315"/>
          </a:xfrm>
        </p:spPr>
        <p:txBody>
          <a:bodyPr>
            <a:normAutofit/>
          </a:bodyPr>
          <a:lstStyle>
            <a:lvl1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2000"/>
            </a:lvl1pPr>
            <a:lvl2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800"/>
            </a:lvl2pPr>
            <a:lvl3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600"/>
            </a:lvl3pPr>
            <a:lvl4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4pPr>
            <a:lvl5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2AFED-AF5A-A2E9-0D36-388733BBE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7A42E613-3DCC-07A2-BA9B-74B13F28E59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0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30338E2-B50A-8F3E-2CA7-A75753E7E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629" y="598947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C8DD029-A673-92B9-0343-3B35BE46D2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9641" y="2153285"/>
            <a:ext cx="3032759" cy="3790310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6E658BA3-0202-C705-7A02-8B70B788442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24400" y="2170621"/>
            <a:ext cx="6553200" cy="377297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BD761E53-47C7-492A-D5B5-A8C2740B5157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5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2" y="2153285"/>
            <a:ext cx="6925660" cy="3500438"/>
          </a:xfrm>
        </p:spPr>
        <p:txBody>
          <a:bodyPr lIns="91440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None/>
              <a:defRPr sz="1800" b="0"/>
            </a:lvl1pPr>
            <a:lvl2pPr marL="228600">
              <a:spcBef>
                <a:spcPts val="1000"/>
              </a:spcBef>
              <a:spcAft>
                <a:spcPts val="1200"/>
              </a:spcAft>
              <a:defRPr sz="1800" b="0"/>
            </a:lvl2pPr>
            <a:lvl3pPr marL="685800">
              <a:spcBef>
                <a:spcPts val="1000"/>
              </a:spcBef>
              <a:spcAft>
                <a:spcPts val="1200"/>
              </a:spcAft>
              <a:defRPr sz="1800" b="0"/>
            </a:lvl3pPr>
            <a:lvl4pPr marL="868680">
              <a:spcBef>
                <a:spcPts val="1000"/>
              </a:spcBef>
              <a:spcAft>
                <a:spcPts val="1200"/>
              </a:spcAft>
              <a:defRPr sz="1800" b="0"/>
            </a:lvl4pPr>
            <a:lvl5pPr marL="1143000">
              <a:spcBef>
                <a:spcPts val="1000"/>
              </a:spcBef>
              <a:spcAft>
                <a:spcPts val="1200"/>
              </a:spcAft>
              <a:defRPr sz="18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15745" y="2153285"/>
            <a:ext cx="3229495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C9F70CF1-DCAD-AE71-6B34-7BFB25EE530B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35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33145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CF90928-AB48-3554-E2B9-417A00F286A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930275" y="2168526"/>
            <a:ext cx="10331450" cy="393906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6C0A7-887A-66E2-A954-5E0592B9F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68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B1E76-5845-01C9-1D0D-03CFFE6F0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6C21AF-4286-DECE-37A1-E8980687A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655320"/>
            <a:ext cx="4572000" cy="54864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E1D6B3-3EC8-6AC4-BE2B-5C732C8567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773680"/>
            <a:ext cx="4572000" cy="336804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457200" indent="0">
              <a:spcBef>
                <a:spcPts val="1000"/>
              </a:spcBef>
              <a:buNone/>
              <a:defRPr sz="1600"/>
            </a:lvl2pPr>
            <a:lvl3pPr marL="914400" indent="0">
              <a:spcBef>
                <a:spcPts val="1000"/>
              </a:spcBef>
              <a:buNone/>
              <a:defRPr sz="1400"/>
            </a:lvl3pPr>
            <a:lvl4pPr marL="1371600" indent="0">
              <a:spcBef>
                <a:spcPts val="1000"/>
              </a:spcBef>
              <a:buNone/>
              <a:defRPr sz="1200"/>
            </a:lvl4pPr>
            <a:lvl5pPr marL="1828800" indent="0"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13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7000">
              <a:srgbClr val="002060"/>
            </a:gs>
            <a:gs pos="0">
              <a:schemeClr val="accent6">
                <a:lumMod val="10000"/>
              </a:schemeClr>
            </a:gs>
            <a:gs pos="74000">
              <a:schemeClr val="accent6">
                <a:lumMod val="10000"/>
              </a:schemeClr>
            </a:gs>
            <a:gs pos="83000">
              <a:srgbClr val="002060"/>
            </a:gs>
            <a:gs pos="100000">
              <a:schemeClr val="accent6">
                <a:lumMod val="1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920" userDrawn="1">
          <p15:clr>
            <a:srgbClr val="F26B43"/>
          </p15:clr>
        </p15:guide>
        <p15:guide id="4" pos="5760" userDrawn="1">
          <p15:clr>
            <a:srgbClr val="F26B43"/>
          </p15:clr>
        </p15:guide>
        <p15:guide id="5" pos="7248" userDrawn="1">
          <p15:clr>
            <a:srgbClr val="F26B43"/>
          </p15:clr>
        </p15:guide>
        <p15:guide id="6" pos="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60AEA-9A6A-58D5-47AA-0DB05FFED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EFB2EE-1231-26A9-1675-C201E71A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204" y="2196668"/>
            <a:ext cx="6489584" cy="152843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Advanced Ensemble Learning for Solar Panel Efficiency Prediction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477E7A-AB1C-F225-B1B9-6D091F2FA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C37A6-9A5E-8303-F9CD-8861F15B75CE}"/>
              </a:ext>
            </a:extLst>
          </p:cNvPr>
          <p:cNvSpPr txBox="1"/>
          <p:nvPr/>
        </p:nvSpPr>
        <p:spPr>
          <a:xfrm>
            <a:off x="8332089" y="4620773"/>
            <a:ext cx="34896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+mj-lt"/>
              </a:rPr>
              <a:t>Team Name: </a:t>
            </a:r>
            <a:r>
              <a:rPr lang="en-US" sz="2000" dirty="0">
                <a:solidFill>
                  <a:schemeClr val="bg1"/>
                </a:solidFill>
                <a:latin typeface="+mj-lt"/>
              </a:rPr>
              <a:t>TensorV3</a:t>
            </a:r>
          </a:p>
          <a:p>
            <a:endParaRPr lang="en-US" sz="2000" b="1" dirty="0">
              <a:solidFill>
                <a:schemeClr val="bg1"/>
              </a:solidFill>
              <a:latin typeface="+mj-lt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+mj-lt"/>
              </a:rPr>
              <a:t>Members:</a:t>
            </a:r>
          </a:p>
          <a:p>
            <a:pPr lvl="2"/>
            <a:r>
              <a:rPr lang="en-US" dirty="0">
                <a:solidFill>
                  <a:schemeClr val="bg1"/>
                </a:solidFill>
                <a:latin typeface="+mj-lt"/>
              </a:rPr>
              <a:t>Vigneshwaran S</a:t>
            </a:r>
          </a:p>
          <a:p>
            <a:pPr lvl="2"/>
            <a:r>
              <a:rPr lang="en-US" dirty="0">
                <a:solidFill>
                  <a:schemeClr val="bg1"/>
                </a:solidFill>
                <a:latin typeface="+mj-lt"/>
              </a:rPr>
              <a:t>Venkat Balaji 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AB22CC-7D8E-DBB1-D115-C1268A86E0C2}"/>
              </a:ext>
            </a:extLst>
          </p:cNvPr>
          <p:cNvSpPr txBox="1"/>
          <p:nvPr/>
        </p:nvSpPr>
        <p:spPr>
          <a:xfrm>
            <a:off x="3578364" y="839331"/>
            <a:ext cx="5035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+mj-lt"/>
              </a:rPr>
              <a:t>Zelestra x AWS ML Ascend  Challenge</a:t>
            </a:r>
          </a:p>
        </p:txBody>
      </p:sp>
    </p:spTree>
    <p:extLst>
      <p:ext uri="{BB962C8B-B14F-4D97-AF65-F5344CB8AC3E}">
        <p14:creationId xmlns:p14="http://schemas.microsoft.com/office/powerpoint/2010/main" val="2785458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CF1EB-F913-E4DC-9A98-C722019BF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C03192-D1DA-BE37-53DE-521EC4ACB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04" y="371623"/>
            <a:ext cx="10515600" cy="10573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99042E-57ED-AE01-D1FB-389298255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430B7-30EA-1176-72A0-B91887C543AC}"/>
              </a:ext>
            </a:extLst>
          </p:cNvPr>
          <p:cNvSpPr txBox="1"/>
          <p:nvPr/>
        </p:nvSpPr>
        <p:spPr>
          <a:xfrm>
            <a:off x="482082" y="1329922"/>
            <a:ext cx="9423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Objective:</a:t>
            </a:r>
          </a:p>
          <a:p>
            <a:r>
              <a:rPr lang="en-US" dirty="0">
                <a:solidFill>
                  <a:schemeClr val="bg1"/>
                </a:solidFill>
              </a:rPr>
              <a:t>	Predict solar panel efficiency based on environmental and operational parameters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F08CF-A2F5-FFE2-ED65-942F069D6E2A}"/>
              </a:ext>
            </a:extLst>
          </p:cNvPr>
          <p:cNvSpPr txBox="1"/>
          <p:nvPr/>
        </p:nvSpPr>
        <p:spPr>
          <a:xfrm>
            <a:off x="482082" y="2202093"/>
            <a:ext cx="1063311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Dataset Characteristics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Target Variable: </a:t>
            </a:r>
            <a:r>
              <a:rPr lang="en-US" dirty="0">
                <a:solidFill>
                  <a:schemeClr val="bg1"/>
                </a:solidFill>
              </a:rPr>
              <a:t>Efficiency (continuous regression problem)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Features: </a:t>
            </a:r>
            <a:r>
              <a:rPr lang="en-US" dirty="0">
                <a:solidFill>
                  <a:schemeClr val="bg1"/>
                </a:solidFill>
              </a:rPr>
              <a:t>Environmental conditions (humidity, pressure, wind_speed) and operational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Data Quality Issues: </a:t>
            </a:r>
            <a:r>
              <a:rPr lang="en-US" dirty="0">
                <a:solidFill>
                  <a:schemeClr val="bg1"/>
                </a:solidFill>
              </a:rPr>
              <a:t>Mixed data types, missing values, inconsistent formatting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Feature Engineering Opportunity: </a:t>
            </a:r>
            <a:r>
              <a:rPr lang="en-US" dirty="0">
                <a:solidFill>
                  <a:schemeClr val="bg1"/>
                </a:solidFill>
              </a:rPr>
              <a:t>Interaction terms and polynomial features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Key Preprocessing Challenges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String-to-numeric conversion for meteorological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Handling mixed data types (categorical and numerical)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Missing value imputation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Feature scaling and normalization</a:t>
            </a:r>
          </a:p>
        </p:txBody>
      </p:sp>
    </p:spTree>
    <p:extLst>
      <p:ext uri="{BB962C8B-B14F-4D97-AF65-F5344CB8AC3E}">
        <p14:creationId xmlns:p14="http://schemas.microsoft.com/office/powerpoint/2010/main" val="2503358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CDBF0-81F2-4423-3E4D-845F54682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29" y="446547"/>
            <a:ext cx="10515600" cy="872081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Advanced Preprocessing Pipeline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AE165-801C-FA62-9FC6-936EFC280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377BA6-E045-9C40-F474-99BBFCB221EE}"/>
              </a:ext>
            </a:extLst>
          </p:cNvPr>
          <p:cNvSpPr txBox="1"/>
          <p:nvPr/>
        </p:nvSpPr>
        <p:spPr>
          <a:xfrm>
            <a:off x="484004" y="1515665"/>
            <a:ext cx="10515600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Data Cleaning &amp; Type Conversion</a:t>
            </a:r>
          </a:p>
          <a:p>
            <a:pPr>
              <a:lnSpc>
                <a:spcPct val="150000"/>
              </a:lnSpc>
            </a:pPr>
            <a:endParaRPr lang="en-US" b="1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Converted meteorological features (humidity, pressure, wind speed) from text to numeric format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Handled invalid values using coercion to ensure consistency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2. Power Transformation &amp; Scaling</a:t>
            </a:r>
          </a:p>
          <a:p>
            <a:pPr>
              <a:lnSpc>
                <a:spcPct val="150000"/>
              </a:lnSpc>
            </a:pPr>
            <a:endParaRPr lang="en-US" b="1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Yeo-Johnson Transformation:</a:t>
            </a:r>
            <a:r>
              <a:rPr lang="en-US" dirty="0">
                <a:solidFill>
                  <a:schemeClr val="bg1"/>
                </a:solidFill>
              </a:rPr>
              <a:t> Normalize skewed distributions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Robust Imputation:</a:t>
            </a:r>
            <a:r>
              <a:rPr lang="en-US" dirty="0">
                <a:solidFill>
                  <a:schemeClr val="bg1"/>
                </a:solidFill>
              </a:rPr>
              <a:t> Mean strategy for missing values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Label Encoding:</a:t>
            </a:r>
            <a:r>
              <a:rPr lang="en-US" dirty="0">
                <a:solidFill>
                  <a:schemeClr val="bg1"/>
                </a:solidFill>
              </a:rPr>
              <a:t> Categorical variables to numerical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Infinite Value Handling:</a:t>
            </a:r>
            <a:r>
              <a:rPr lang="en-US" dirty="0">
                <a:solidFill>
                  <a:schemeClr val="bg1"/>
                </a:solidFill>
              </a:rPr>
              <a:t> Replace inf/-inf with NaN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778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FBA4D-4707-A049-EF97-C3F455E2C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EFC92-68EC-CC36-4378-CDC7802CD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29" y="465548"/>
            <a:ext cx="10515600" cy="80122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Advanced Preprocessing Pipeline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F8433-AEBE-5732-317B-C256BDE4C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7C5435-956D-C758-00D6-879A2F8C2B6C}"/>
              </a:ext>
            </a:extLst>
          </p:cNvPr>
          <p:cNvSpPr txBox="1"/>
          <p:nvPr/>
        </p:nvSpPr>
        <p:spPr>
          <a:xfrm>
            <a:off x="541154" y="1450645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3. Feature Engineering (Model-Specific)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14D42A-376A-FED4-60C4-F3985549B628}"/>
              </a:ext>
            </a:extLst>
          </p:cNvPr>
          <p:cNvSpPr txBox="1"/>
          <p:nvPr/>
        </p:nvSpPr>
        <p:spPr>
          <a:xfrm>
            <a:off x="514350" y="3530130"/>
            <a:ext cx="103917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4. Model-Specific Preprocessing</a:t>
            </a:r>
          </a:p>
          <a:p>
            <a:pPr lvl="1"/>
            <a:endParaRPr lang="en-US" b="1" dirty="0">
              <a:solidFill>
                <a:schemeClr val="bg1"/>
              </a:solidFill>
            </a:endParaRP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TabNet:</a:t>
            </a:r>
            <a:r>
              <a:rPr lang="en-US" dirty="0">
                <a:solidFill>
                  <a:schemeClr val="bg1"/>
                </a:solidFill>
              </a:rPr>
              <a:t>  Imputer Categorical embeddings with dimensions [3,3,3]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H2O/AutoGluon:</a:t>
            </a:r>
            <a:r>
              <a:rPr lang="en-US" dirty="0">
                <a:solidFill>
                  <a:schemeClr val="bg1"/>
                </a:solidFill>
              </a:rPr>
              <a:t>  Automated feature engineering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Tree Models ML:</a:t>
            </a:r>
            <a:r>
              <a:rPr lang="en-US" dirty="0">
                <a:solidFill>
                  <a:schemeClr val="bg1"/>
                </a:solidFill>
              </a:rPr>
              <a:t>  Standard scaling + polynomial features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Stack Regression Models:</a:t>
            </a:r>
            <a:r>
              <a:rPr lang="en-US" dirty="0">
                <a:solidFill>
                  <a:schemeClr val="bg1"/>
                </a:solidFill>
              </a:rPr>
              <a:t>  Standard scaling + polynomial features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Picture 12" descr="A diagram of a diagram&#10;&#10;AI-generated content may be incorrect.">
            <a:extLst>
              <a:ext uri="{FF2B5EF4-FFF2-40B4-BE49-F238E27FC236}">
                <a16:creationId xmlns:a16="http://schemas.microsoft.com/office/drawing/2014/main" id="{4E79FD25-342A-A3BB-7823-0B23262E3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641" y="1842737"/>
            <a:ext cx="9172575" cy="201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26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22ABE-5AD8-B265-5DF0-99923C2A9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FC5BC-0488-BD3F-7AD3-4B63266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008" y="490843"/>
            <a:ext cx="10515600" cy="75338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Comprehensive Model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4D734-2EF3-B5D3-82E0-AD99DD141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BDB3E5-1201-3C10-C1F2-9A0899043D4D}"/>
              </a:ext>
            </a:extLst>
          </p:cNvPr>
          <p:cNvSpPr txBox="1"/>
          <p:nvPr/>
        </p:nvSpPr>
        <p:spPr>
          <a:xfrm>
            <a:off x="643233" y="1244228"/>
            <a:ext cx="3061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Multi-Level Ensemble Strategy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2DFA3D-C7EC-E26A-0264-446987D3B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965" y="1613560"/>
            <a:ext cx="8214643" cy="497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09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1EE71-A6B4-CAAD-E3B8-9540339C6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58F4-259A-14EA-6B1D-3C12919AD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008" y="371623"/>
            <a:ext cx="10515600" cy="75145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Comprehensive Model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3BE7B-A6EF-04B1-9B32-5B40F8EBE9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2125A-377B-8701-9FA9-22EE61D9F7F6}"/>
              </a:ext>
            </a:extLst>
          </p:cNvPr>
          <p:cNvSpPr txBox="1"/>
          <p:nvPr/>
        </p:nvSpPr>
        <p:spPr>
          <a:xfrm>
            <a:off x="509883" y="1954075"/>
            <a:ext cx="11032913" cy="37880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Stacked Regressor 3: </a:t>
            </a:r>
            <a:r>
              <a:rPr lang="en-US" dirty="0">
                <a:solidFill>
                  <a:schemeClr val="bg1"/>
                </a:solidFill>
              </a:rPr>
              <a:t>An Hyperparameter tuned ensemble regressor combining Catboost, XGBoost, RandomForest, LGBM, ET using stacking to leverage their complementary strengths.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AutoGluon: </a:t>
            </a:r>
            <a:r>
              <a:rPr lang="en-US" dirty="0">
                <a:solidFill>
                  <a:schemeClr val="bg1"/>
                </a:solidFill>
              </a:rPr>
              <a:t>A powerful AutoML framework that automates model selection, training, and ensembling for tabular datasets.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Single CatBoost Tuned: </a:t>
            </a:r>
            <a:r>
              <a:rPr lang="en-US" dirty="0">
                <a:solidFill>
                  <a:schemeClr val="bg1"/>
                </a:solidFill>
              </a:rPr>
              <a:t>A hyperparameter tuned high-performing gradient boosting model fine-tuned for optimal accuracy on structured and categorical data.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TPOT Regressor: </a:t>
            </a:r>
            <a:r>
              <a:rPr lang="en-US" dirty="0">
                <a:solidFill>
                  <a:schemeClr val="bg1"/>
                </a:solidFill>
              </a:rPr>
              <a:t>An AutoML tool that uses genetic programming to discover the best-performing regression pipeline.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Deep CatBoost</a:t>
            </a:r>
            <a:r>
              <a:rPr lang="en-US" dirty="0">
                <a:solidFill>
                  <a:schemeClr val="bg1"/>
                </a:solidFill>
              </a:rPr>
              <a:t>: An enhanced version of CatBoost leveraging deeper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2793453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385A3-B47B-8D11-D383-60F2BB6B4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7AE2D-3839-6D3C-72F8-05CFF392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533" y="371623"/>
            <a:ext cx="10515600" cy="646508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Comprehensive Model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4A4C2-B2E8-39D5-59BA-02FA5777D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D3D797-D0CC-8258-4CBA-A73B52A9EB6B}"/>
              </a:ext>
            </a:extLst>
          </p:cNvPr>
          <p:cNvSpPr txBox="1"/>
          <p:nvPr/>
        </p:nvSpPr>
        <p:spPr>
          <a:xfrm>
            <a:off x="579543" y="1917665"/>
            <a:ext cx="11032913" cy="3788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en-US" b="1" dirty="0">
                <a:solidFill>
                  <a:schemeClr val="bg1"/>
                </a:solidFill>
              </a:rPr>
              <a:t>Manual Weighted Ensemble: </a:t>
            </a:r>
            <a:r>
              <a:rPr lang="en-US" dirty="0">
                <a:solidFill>
                  <a:schemeClr val="bg1"/>
                </a:solidFill>
              </a:rPr>
              <a:t>A custom ensemble approach that linearly combines model outputs using manually chosen weights for better predictions - Catboost, XGBoost, RandomForest, LGBM, ET. </a:t>
            </a:r>
            <a:endParaRPr lang="en-US" b="1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 startAt="6"/>
            </a:pPr>
            <a:r>
              <a:rPr lang="en-US" b="1" dirty="0">
                <a:solidFill>
                  <a:schemeClr val="bg1"/>
                </a:solidFill>
              </a:rPr>
              <a:t>FLAML: </a:t>
            </a:r>
            <a:r>
              <a:rPr lang="en-US" dirty="0">
                <a:solidFill>
                  <a:schemeClr val="bg1"/>
                </a:solidFill>
              </a:rPr>
              <a:t>A fast and lightweight AutoML library that efficiently searches for accurate models under resource constraints.</a:t>
            </a:r>
            <a:endParaRPr lang="en-US" b="1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8"/>
            </a:pPr>
            <a:r>
              <a:rPr lang="en-US" b="1" dirty="0">
                <a:solidFill>
                  <a:schemeClr val="bg1"/>
                </a:solidFill>
              </a:rPr>
              <a:t>Stack Regressor – Many Models: </a:t>
            </a:r>
            <a:r>
              <a:rPr lang="en-US" dirty="0">
                <a:solidFill>
                  <a:schemeClr val="bg1"/>
                </a:solidFill>
              </a:rPr>
              <a:t>A stacked regression model combining Gradient Boosting, Random Forest, XGBoost, LightGBM, and CatBoost is used to predict efficiency. Ridge regression acts as the meta-learner to blend base model outputs for improved accuracy.</a:t>
            </a:r>
          </a:p>
          <a:p>
            <a:pPr marL="342900" indent="-342900">
              <a:lnSpc>
                <a:spcPct val="150000"/>
              </a:lnSpc>
              <a:buAutoNum type="arabicPeriod" startAt="8"/>
            </a:pPr>
            <a:r>
              <a:rPr lang="en-US" b="1" dirty="0">
                <a:solidFill>
                  <a:schemeClr val="bg1"/>
                </a:solidFill>
              </a:rPr>
              <a:t>TabNet Regressor: </a:t>
            </a:r>
            <a:r>
              <a:rPr lang="en-US" dirty="0">
                <a:solidFill>
                  <a:schemeClr val="bg1"/>
                </a:solidFill>
              </a:rPr>
              <a:t>A deep learning model that uses sequential attention to perform interpretable and efficient tabular data learning. Hyperparameter tuned using optuna.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920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2B630-5528-1278-09EE-41A21343D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10968-EECD-FAE3-BD61-F778EC0F7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533" y="371623"/>
            <a:ext cx="10515600" cy="646508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Comprehensive Model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B5861C-A631-751D-E280-E5D138D21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3AB5B-CA98-E3A4-0ADA-C95B5CA2EA3F}"/>
              </a:ext>
            </a:extLst>
          </p:cNvPr>
          <p:cNvSpPr txBox="1"/>
          <p:nvPr/>
        </p:nvSpPr>
        <p:spPr>
          <a:xfrm>
            <a:off x="579543" y="1917665"/>
            <a:ext cx="11032913" cy="3372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b="1" dirty="0">
                <a:solidFill>
                  <a:schemeClr val="bg1"/>
                </a:solidFill>
              </a:rPr>
              <a:t>H2O: </a:t>
            </a:r>
            <a:r>
              <a:rPr lang="en-US" dirty="0">
                <a:solidFill>
                  <a:schemeClr val="bg1"/>
                </a:solidFill>
              </a:rPr>
              <a:t>A scalable and robust AutoML platform that automatically builds and blends multiple regression models.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b="1" dirty="0">
                <a:solidFill>
                  <a:schemeClr val="bg1"/>
                </a:solidFill>
              </a:rPr>
              <a:t>Stacking Regressor – FLAML :  Used FLAML as Meta-Model in stacking regressor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b="1" dirty="0">
                <a:solidFill>
                  <a:schemeClr val="bg1"/>
                </a:solidFill>
              </a:rPr>
              <a:t>Stacking Regressor – FLAML  Advanced: Tuned FLAML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b="1" dirty="0">
                <a:solidFill>
                  <a:schemeClr val="bg1"/>
                </a:solidFill>
              </a:rPr>
              <a:t>Stacking Regressor 1 - </a:t>
            </a:r>
            <a:r>
              <a:rPr lang="en-US" dirty="0">
                <a:solidFill>
                  <a:schemeClr val="bg1"/>
                </a:solidFill>
              </a:rPr>
              <a:t>An Hyperparameter tuned ensemble regressor combining Catboost, XGBoost, RandomForest, LGBM, ET using stacking to leverage their complementary strengths.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b="1" dirty="0">
                <a:solidFill>
                  <a:schemeClr val="bg1"/>
                </a:solidFill>
              </a:rPr>
              <a:t>MLJar - </a:t>
            </a: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 err="1">
                <a:solidFill>
                  <a:schemeClr val="bg1"/>
                </a:solidFill>
              </a:rPr>
              <a:t>MLjar</a:t>
            </a:r>
            <a:r>
              <a:rPr lang="en-US" dirty="0">
                <a:solidFill>
                  <a:schemeClr val="bg1"/>
                </a:solidFill>
              </a:rPr>
              <a:t>-AutoML is an Automated Machine Learning Python package that works with tabular data.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b="1" dirty="0">
                <a:solidFill>
                  <a:schemeClr val="bg1"/>
                </a:solidFill>
              </a:rPr>
              <a:t>Tab FTTransformer – A</a:t>
            </a:r>
            <a:r>
              <a:rPr lang="en-US" dirty="0">
                <a:solidFill>
                  <a:schemeClr val="bg1"/>
                </a:solidFill>
              </a:rPr>
              <a:t> hyperparameter tuned Transformer based Tabular ML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33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9F46B-D4CF-F2EF-2DCD-58089F77F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FECAC-EC0F-2D1C-54AE-C3DA062BD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06" y="7548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 Advanced Multi-Level Ensemble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A1A87-3C2D-AC08-D152-AE4A090F7D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701760-E063-B5B1-D8C3-EE923BE784F9}"/>
              </a:ext>
            </a:extLst>
          </p:cNvPr>
          <p:cNvSpPr txBox="1"/>
          <p:nvPr/>
        </p:nvSpPr>
        <p:spPr>
          <a:xfrm>
            <a:off x="712414" y="999813"/>
            <a:ext cx="4288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bg1"/>
                </a:solidFill>
              </a:rPr>
              <a:t>Manual Weighted Ensemble Breakdown</a:t>
            </a:r>
            <a:endParaRPr lang="en-US" sz="2000" b="1" u="sng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C65B274-ED0C-80ED-912D-F2FB8021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122569"/>
              </p:ext>
            </p:extLst>
          </p:nvPr>
        </p:nvGraphicFramePr>
        <p:xfrm>
          <a:off x="947737" y="1941618"/>
          <a:ext cx="10296525" cy="350521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500799">
                  <a:extLst>
                    <a:ext uri="{9D8B030D-6E8A-4147-A177-3AD203B41FA5}">
                      <a16:colId xmlns:a16="http://schemas.microsoft.com/office/drawing/2014/main" val="66858951"/>
                    </a:ext>
                  </a:extLst>
                </a:gridCol>
                <a:gridCol w="3323502">
                  <a:extLst>
                    <a:ext uri="{9D8B030D-6E8A-4147-A177-3AD203B41FA5}">
                      <a16:colId xmlns:a16="http://schemas.microsoft.com/office/drawing/2014/main" val="3330839384"/>
                    </a:ext>
                  </a:extLst>
                </a:gridCol>
                <a:gridCol w="3472224">
                  <a:extLst>
                    <a:ext uri="{9D8B030D-6E8A-4147-A177-3AD203B41FA5}">
                      <a16:colId xmlns:a16="http://schemas.microsoft.com/office/drawing/2014/main" val="2180707485"/>
                    </a:ext>
                  </a:extLst>
                </a:gridCol>
              </a:tblGrid>
              <a:tr h="34961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Model Name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Individual LB Score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Weight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251103299"/>
                  </a:ext>
                </a:extLst>
              </a:tr>
              <a:tr h="407171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H2O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89.89176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0.65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817699374"/>
                  </a:ext>
                </a:extLst>
              </a:tr>
              <a:tr h="4947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Manual Ensemble Weighted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89.86597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0.50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051578155"/>
                  </a:ext>
                </a:extLst>
              </a:tr>
              <a:tr h="43995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TabNet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89.88160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0.40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505222616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Stack Regressor 1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89.87982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0.40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12455094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AutoGluon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89.84440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0.30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99201881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Deep CatBoost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89.84000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0.35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384407088"/>
                  </a:ext>
                </a:extLst>
              </a:tr>
              <a:tr h="401868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MLJAR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89.88173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0.10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191763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131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7ACA2-C37B-7163-8368-498888D3C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4D212-18A1-3C97-6D06-D30870DD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06" y="7548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 Advanced Multi-Level Ensemble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A98C0-77BB-F19F-0A19-23952A1727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FABB89-CC6B-F8BD-799D-C2A543DC8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923531"/>
              </p:ext>
            </p:extLst>
          </p:nvPr>
        </p:nvGraphicFramePr>
        <p:xfrm>
          <a:off x="871537" y="1908412"/>
          <a:ext cx="10448925" cy="429827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548063">
                  <a:extLst>
                    <a:ext uri="{9D8B030D-6E8A-4147-A177-3AD203B41FA5}">
                      <a16:colId xmlns:a16="http://schemas.microsoft.com/office/drawing/2014/main" val="1156337945"/>
                    </a:ext>
                  </a:extLst>
                </a:gridCol>
                <a:gridCol w="3417887">
                  <a:extLst>
                    <a:ext uri="{9D8B030D-6E8A-4147-A177-3AD203B41FA5}">
                      <a16:colId xmlns:a16="http://schemas.microsoft.com/office/drawing/2014/main" val="338003094"/>
                    </a:ext>
                  </a:extLst>
                </a:gridCol>
                <a:gridCol w="3482975">
                  <a:extLst>
                    <a:ext uri="{9D8B030D-6E8A-4147-A177-3AD203B41FA5}">
                      <a16:colId xmlns:a16="http://schemas.microsoft.com/office/drawing/2014/main" val="2470368767"/>
                    </a:ext>
                  </a:extLst>
                </a:gridCol>
              </a:tblGrid>
              <a:tr h="367263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Model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Individual LB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704277"/>
                  </a:ext>
                </a:extLst>
              </a:tr>
              <a:tr h="508163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Stack Regressor – Many Models</a:t>
                      </a:r>
                      <a:endParaRPr 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89.85290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-0.20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42596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Stack Regressor 3</a:t>
                      </a:r>
                      <a:endParaRPr 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89.87988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-0.10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64239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TPOT</a:t>
                      </a:r>
                      <a:endParaRPr 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89.83612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-0.20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794756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FLAML</a:t>
                      </a:r>
                      <a:endParaRPr 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89.84897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-0.10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8743289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Tabular-FTTransformer</a:t>
                      </a:r>
                      <a:endParaRPr 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89.76028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-0.20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0598882"/>
                  </a:ext>
                </a:extLst>
              </a:tr>
              <a:tr h="505951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Single CatBoost (Tuned)</a:t>
                      </a:r>
                      <a:endParaRPr 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89.84074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-0.35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32421"/>
                  </a:ext>
                </a:extLst>
              </a:tr>
              <a:tr h="505951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Stacking Regressor – FLAML Advanced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89.85412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8770358"/>
                  </a:ext>
                </a:extLst>
              </a:tr>
              <a:tr h="505951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Stacking Regressor – FLAML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89.84103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-0.1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8613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2120109-747E-9CFF-075F-B6981348F800}"/>
              </a:ext>
            </a:extLst>
          </p:cNvPr>
          <p:cNvSpPr txBox="1"/>
          <p:nvPr/>
        </p:nvSpPr>
        <p:spPr>
          <a:xfrm>
            <a:off x="712414" y="999813"/>
            <a:ext cx="4288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bg1"/>
                </a:solidFill>
              </a:rPr>
              <a:t>Manual Weighted Ensemble Breakdown</a:t>
            </a:r>
            <a:endParaRPr lang="en-US" sz="2000" b="1" u="sng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51069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555E3-B8CA-E35C-96BB-E3DAD5B9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4FF863-24C4-B72C-50D2-3F2CB5F15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 Diversity and Ensemble Strategy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77A800-793B-B661-35F9-40EABAB42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9BBD31-166B-3A7A-65F4-6973E945A71A}"/>
              </a:ext>
            </a:extLst>
          </p:cNvPr>
          <p:cNvSpPr txBox="1"/>
          <p:nvPr/>
        </p:nvSpPr>
        <p:spPr>
          <a:xfrm>
            <a:off x="701041" y="2153285"/>
            <a:ext cx="3880484" cy="3500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Ensemble Innovation: Negative Weighting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Diversity Enhancement:  Negative weights prevent overfitting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Bias Correction:  Counteract systematic errors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Performance Boost: Improved generalization through contrast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Risk Management:  Reduced ensemble variance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1DA75-1795-FE97-A279-FCFD848A76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965"/>
          <a:stretch>
            <a:fillRect/>
          </a:stretch>
        </p:blipFill>
        <p:spPr>
          <a:xfrm>
            <a:off x="4514851" y="1850867"/>
            <a:ext cx="7115174" cy="402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0850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09D"/>
      </a:accent1>
      <a:accent2>
        <a:srgbClr val="FFD7C7"/>
      </a:accent2>
      <a:accent3>
        <a:srgbClr val="FFE9E0"/>
      </a:accent3>
      <a:accent4>
        <a:srgbClr val="55736D"/>
      </a:accent4>
      <a:accent5>
        <a:srgbClr val="88A88E"/>
      </a:accent5>
      <a:accent6>
        <a:srgbClr val="E6FFFB"/>
      </a:accent6>
      <a:hlink>
        <a:srgbClr val="0563C1"/>
      </a:hlink>
      <a:folHlink>
        <a:srgbClr val="954F72"/>
      </a:folHlink>
    </a:clrScheme>
    <a:fontScheme name="Custom 116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722518_win32_SD_v11" id="{6E195932-91F4-4861-8538-848409B20D97}" vid="{F5C82CE7-F5AC-4E30-975C-FD228ED220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796806-D3A7-49C6-9335-B8A0B9307F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7CDA33-9251-49D0-A51A-7888AA3E063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32E4FA29-61E2-42A6-9537-732ED628B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893</TotalTime>
  <Words>707</Words>
  <Application>Microsoft Office PowerPoint</Application>
  <PresentationFormat>Widescreen</PresentationFormat>
  <Paragraphs>145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Bodoni MT</vt:lpstr>
      <vt:lpstr>Calibri</vt:lpstr>
      <vt:lpstr>Source Sans Pro Light</vt:lpstr>
      <vt:lpstr>Custom</vt:lpstr>
      <vt:lpstr>Advanced Ensemble Learning for Solar Panel Efficiency Prediction</vt:lpstr>
      <vt:lpstr>Problem Statement</vt:lpstr>
      <vt:lpstr>Advanced Preprocessing Pipeline</vt:lpstr>
      <vt:lpstr>Advanced Preprocessing Pipeline</vt:lpstr>
      <vt:lpstr>Comprehensive Model Architecture</vt:lpstr>
      <vt:lpstr>Comprehensive Model Architecture</vt:lpstr>
      <vt:lpstr>Comprehensive Model Architecture</vt:lpstr>
      <vt:lpstr>Comprehensive Model Architecture</vt:lpstr>
      <vt:lpstr> Advanced Multi-Level Ensemble Architecture</vt:lpstr>
      <vt:lpstr> Advanced Multi-Level Ensemble Architecture</vt:lpstr>
      <vt:lpstr>Model Diversity and Ensemble 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 Balaji S</dc:creator>
  <cp:lastModifiedBy>Venkat Balaji S</cp:lastModifiedBy>
  <cp:revision>8</cp:revision>
  <dcterms:created xsi:type="dcterms:W3CDTF">2025-06-08T16:38:03Z</dcterms:created>
  <dcterms:modified xsi:type="dcterms:W3CDTF">2025-06-09T17:27:54Z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